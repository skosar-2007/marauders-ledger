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922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25935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F37"/>
                </a:solidFill>
                <a:latin typeface="Georgia"/>
              </a:defRPr>
            </a:pPr>
            <a:r>
              <a:t>The Marauder's Ledger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560320"/>
            <a:ext cx="39620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D5C5"/>
                </a:solidFill>
                <a:latin typeface="Arial"/>
              </a:defRPr>
            </a:pPr>
            <a:r>
              <a:t>AI-Powered Financial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Arial"/>
              </a:defRPr>
            </a:pPr>
            <a:r>
              <a:t>"I solemnly swear that I am up to no good."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754880"/>
            <a:ext cx="14630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4754880"/>
            <a:ext cx="1463040" cy="320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754880"/>
            <a:ext cx="1463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ML Ensemble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754880"/>
            <a:ext cx="146304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0F0A"/>
                </a:solidFill>
                <a:latin typeface="Arial"/>
              </a:defRPr>
            </a:pPr>
            <a:r>
              <a:t>Gemini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8877"/>
                </a:solidFill>
                <a:latin typeface="Arial"/>
              </a:defRPr>
            </a:pPr>
            <a:r>
              <a:t>Hackathon Demo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The Problem &amp; 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Financial fraud costs billions annually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Traditional rule-based systems miss novel patterns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Manual review is slow and inconsistent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Customers need real-time, transparent alerts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Existing tools lack context and narrative explanations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10-model ML ensemble detects complex anomalies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48 engineered features for deep analysis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AI-generated narratives explain each anomaly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Interactive map visualizes spending patterns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Voice narration for accessibility</a:t>
            </a:r>
          </a:p>
          <a:p>
            <a:pPr>
              <a:spcAft>
                <a:spcPts val="1200"/>
              </a:spcAft>
              <a:defRPr sz="1500">
                <a:solidFill>
                  <a:srgbClr val="2C1810"/>
                </a:solidFill>
                <a:latin typeface="Arial"/>
              </a:defRPr>
            </a:pPr>
            <a:r>
              <a:t>Real-time processing via Celery workers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React 19 + TypeScript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18 Pages, 26 Components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Framer Motion Animations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Tailwind CSS Parchment Theme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FastAPI + Uvicorn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17+ REST Endpoints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JWT Authentication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CORS &amp; Rate Limiting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ML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10-Model Ensemble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48 Feature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Hybrid Scoring Formula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Rule-Based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5603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5603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DATA &amp;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0312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Actian VectorAI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Gemini 2.0 Flash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ElevenLabs TTS</a:t>
            </a:r>
          </a:p>
          <a:p>
            <a:pPr>
              <a:spcAft>
                <a:spcPts val="1000"/>
              </a:spcAft>
              <a:defRPr sz="1300">
                <a:solidFill>
                  <a:srgbClr val="2C1810"/>
                </a:solidFill>
                <a:latin typeface="Arial"/>
              </a:defRPr>
            </a:pPr>
            <a:r>
              <a:t>Redis +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rial"/>
              </a:defRPr>
            </a:pPr>
            <a:r>
              <a:t>&gt;&gt;&gt;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rial"/>
              </a:defRPr>
            </a:pPr>
            <a:r>
              <a:t>&gt;&gt;&gt;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rial"/>
              </a:defRPr>
            </a:pPr>
            <a:r>
              <a:t>&gt;&gt;&gt;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281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Docker Compose: 5 Services  |  Backend  |  Frontend  |  Redis  |  VectorAI  |  Celery Worker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ML Anomaly Detection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4F"/>
                </a:solidFill>
                <a:latin typeface="Arial"/>
              </a:defRPr>
            </a:pPr>
            <a:r>
              <a:t>SUPERVISED MODELS (6)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Random Forest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Gradient Boosting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XGBoost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LightGBM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CatBoost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Extra Trees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UNSUPERVISED MODELS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Isolation Forest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Local Outlier Factor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One-Class SVM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8016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28016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Arial"/>
              </a:defRPr>
            </a:pPr>
            <a:r>
              <a:t>RULE-BASED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3736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Transaction velocity checks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Amount threshold violations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Category spending spikes</a:t>
            </a:r>
          </a:p>
          <a:p>
            <a:pPr>
              <a:spcAft>
                <a:spcPts val="300"/>
              </a:spcAft>
              <a:defRPr sz="1100">
                <a:solidFill>
                  <a:srgbClr val="2C1810"/>
                </a:solidFill>
                <a:latin typeface="Arial"/>
              </a:defRPr>
            </a:pPr>
            <a:r>
              <a:t>Time-pattern anomalies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669280" cy="45720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48 ENGINEERED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35 Base Features: amount, category, merchant, hour, day, cyclical encodings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3 Unsupervised Scores: IF score, LOF score, OCSVM score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1 Rule Score: heuristic-based anomaly indicators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Feature scaling: StandardScaler normalization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9768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0F0A"/>
                </a:solidFill>
                <a:latin typeface="Arial"/>
              </a:defRPr>
            </a:pPr>
            <a:r>
              <a:t>HYBRID SCORING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1810"/>
                </a:solidFill>
                <a:latin typeface="Courier New"/>
              </a:defRPr>
            </a:pPr>
            <a:r>
              <a:t>final_score = 0.75 * ensemble_score + 0.25 * rule_score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486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Ensemble: Weighted average of 9 ML models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Rules: Domain-specific anomaly heuristics</a:t>
            </a:r>
          </a:p>
          <a:p>
            <a:pPr>
              <a:spcAft>
                <a:spcPts val="600"/>
              </a:spcAft>
              <a:defRPr sz="1200">
                <a:solidFill>
                  <a:srgbClr val="2C1810"/>
                </a:solidFill>
                <a:latin typeface="Arial"/>
              </a:defRPr>
            </a:pPr>
            <a:r>
              <a:t>Threshold: Score &gt; 0.5 flags as anomaly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Interactive Marauder's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D5C5"/>
                </a:solidFill>
                <a:latin typeface="Arial"/>
              </a:defRPr>
            </a:pPr>
            <a:r>
              <a:t>SVG-based visualization with animated footprints and real-time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2860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Hogwarts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Food &amp; Dining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737360"/>
            <a:ext cx="22860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Hogsmeade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Shopping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737360"/>
            <a:ext cx="228600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Gringotts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Bills &amp; Utilities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737360"/>
            <a:ext cx="22860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Diagon Alley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Entertainment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737360"/>
            <a:ext cx="22860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Platform 9 3/4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CC"/>
                </a:solidFill>
                <a:latin typeface="Arial"/>
              </a:defRPr>
            </a:pPr>
            <a:r>
              <a:t>Travel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Animated Footprints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Transactions appear as walking footprints that traverse the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38328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Anomaly Pulsing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Detected anomalies glow red and pulse to draw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38328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Click to Inspect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840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Click any footprint to view detailed transaction information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Category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Filter by Moony, Wormtail, Padfoot, Prongs tabs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93776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Severity Indicators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Peeves (low), Boggart (medium), Dementor (high)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937760"/>
            <a:ext cx="3566160" cy="128016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rial"/>
              </a:defRPr>
            </a:pPr>
            <a:r>
              <a:t>Real-time Updates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394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5C5"/>
                </a:solidFill>
                <a:latin typeface="Arial"/>
              </a:defRPr>
            </a:pPr>
            <a:r>
              <a:t>Background Celery workers process and update the map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AI-Powered Narratives &amp;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69280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GOOGLE GEMINI 2.0 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810"/>
                </a:solidFill>
                <a:latin typeface="Arial"/>
              </a:defRPr>
            </a:pPr>
            <a:r>
              <a:t>Natural Language Narrative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Each anomaly gets a unique, contextual narrative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Harry Potter-themed storytelling style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Explains what happened, why it's suspicious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Typewriter animation for engaging reveal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Graceful fallback to static templates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Narratives stored for historical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5120640" cy="1097280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Arial"/>
              </a:defRPr>
            </a:pPr>
            <a:r>
              <a:t>Example Narrative: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1810"/>
                </a:solidFill>
                <a:latin typeface="Arial"/>
              </a:defRPr>
            </a:pPr>
            <a:r>
              <a:t>"A suspicious transaction of $847.23 at 'Dark arts Emporium' at 3:23 AM... The Boggart stirs!"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ELEVENLABS TEXT-TO-SPEECH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810"/>
                </a:solidFill>
                <a:latin typeface="Arial"/>
              </a:defRPr>
            </a:pPr>
            <a:r>
              <a:t>Voice Narration with Waveform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Narratives read aloud via TTS API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Interactive audio player with waveform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Play/pause controls for each anomaly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Enhances accessibility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Graceful fallback when API unavailable</a:t>
            </a:r>
          </a:p>
          <a:p>
            <a:pPr>
              <a:spcAft>
                <a:spcPts val="1000"/>
              </a:spcAft>
              <a:defRPr sz="1400">
                <a:solidFill>
                  <a:srgbClr val="2C1810"/>
                </a:solidFill>
                <a:latin typeface="Arial"/>
              </a:defRPr>
            </a:pPr>
            <a:r>
              <a:t>Audio cached for instant replay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029200"/>
            <a:ext cx="4754880" cy="1097280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074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SEVERITY CLASSIFICATION: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5394960"/>
            <a:ext cx="1463040" cy="320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Peeves (Low)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394960"/>
            <a:ext cx="146304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0F0A"/>
                </a:solidFill>
                <a:latin typeface="Arial"/>
              </a:defRPr>
            </a:pPr>
            <a:r>
              <a:t>Boggart (Med)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5394960"/>
            <a:ext cx="1463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Dementor (High)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Full-Stack Feature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JWT-based auth with bcrypt</a:t>
            </a:r>
            <a:br/>
            <a:r>
              <a:t>password hashing, CORS, and</a:t>
            </a:r>
            <a:br/>
            <a:r>
              <a:t>rate limiting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Background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Celery workers + Redis for</a:t>
            </a:r>
            <a:br/>
            <a:r>
              <a:t>async CSV processing,</a:t>
            </a:r>
            <a:br/>
            <a:r>
              <a:t>anomaly detection, and</a:t>
            </a:r>
            <a:br/>
            <a:r>
              <a:t>narrative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566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18 Themed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Landing, Dashboard, Ledger,</a:t>
            </a:r>
            <a:br/>
            <a:r>
              <a:t>Vault, Pensieve, Owl Post,</a:t>
            </a:r>
            <a:br/>
            <a:r>
              <a:t>Profile, Great Hall, and</a:t>
            </a:r>
            <a:br/>
            <a:r>
              <a:t>10+ more wizarding 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356616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Dark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Full dark/light theme toggle</a:t>
            </a:r>
            <a:br/>
            <a:r>
              <a:t>with seamless transitions</a:t>
            </a:r>
            <a:br/>
            <a:r>
              <a:t>and consistent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023360"/>
            <a:ext cx="356616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PDF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Export anomaly reports and</a:t>
            </a:r>
            <a:br/>
            <a:r>
              <a:t>transaction data as</a:t>
            </a:r>
            <a:br/>
            <a:r>
              <a:t>formatted PDF documents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023360"/>
            <a:ext cx="3566160" cy="502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Command Palette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810"/>
                </a:solidFill>
                <a:latin typeface="Arial"/>
              </a:defRPr>
            </a:pPr>
            <a:r>
              <a:t>Keyboard-driven Cmd+K</a:t>
            </a:r>
            <a:br/>
            <a:r>
              <a:t>command interface for</a:t>
            </a:r>
            <a:br/>
            <a:r>
              <a:t>quick navigation and</a:t>
            </a:r>
            <a:br/>
            <a:r>
              <a:t>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Live Demo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5C5"/>
                </a:solidFill>
                <a:latin typeface="Arial"/>
              </a:defRPr>
            </a:pPr>
            <a:r>
              <a:t>Drag &amp; drop a CSV file</a:t>
            </a:r>
            <a:br/>
            <a:r>
              <a:t>onto the upload zone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146304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4F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5C5"/>
                </a:solidFill>
                <a:latin typeface="Arial"/>
              </a:defRPr>
            </a:pPr>
            <a:r>
              <a:t>Background workers parse</a:t>
            </a:r>
            <a:br/>
            <a:r>
              <a:t>&amp; run ML inference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146304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Arial"/>
              </a:defRPr>
            </a:pPr>
            <a:r>
              <a:t>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97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5C5"/>
                </a:solidFill>
                <a:latin typeface="Arial"/>
              </a:defRPr>
            </a:pPr>
            <a:r>
              <a:t>Footprints animate across</a:t>
            </a:r>
            <a:br/>
            <a:r>
              <a:t>the Marauder's Map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146304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5C5"/>
                </a:solidFill>
                <a:latin typeface="Arial"/>
              </a:defRPr>
            </a:pPr>
            <a:r>
              <a:t>Anomalies pulse red on</a:t>
            </a:r>
            <a:br/>
            <a:r>
              <a:t>the interactive SVG map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14630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Arial"/>
              </a:defRPr>
            </a:pPr>
            <a:r>
              <a:t>Narrate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97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5C5"/>
                </a:solidFill>
                <a:latin typeface="Arial"/>
              </a:defRPr>
            </a:pPr>
            <a:r>
              <a:t>Gemini generates AI</a:t>
            </a:r>
            <a:br/>
            <a:r>
              <a:t>narrative for each anomaly</a:t>
            </a:r>
          </a:p>
        </p:txBody>
      </p:sp>
      <p:sp>
        <p:nvSpPr>
          <p:cNvPr id="19" name="Oval 18"/>
          <p:cNvSpPr/>
          <p:nvPr/>
        </p:nvSpPr>
        <p:spPr>
          <a:xfrm>
            <a:off x="10607040" y="14630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Arial"/>
              </a:defRPr>
            </a:pPr>
            <a:r>
              <a:t>Listen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697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5C5"/>
                </a:solidFill>
                <a:latin typeface="Arial"/>
              </a:defRPr>
            </a:pPr>
            <a:r>
              <a:t>ElevenLabs reads the</a:t>
            </a:r>
            <a:br/>
            <a:r>
              <a:t>narration via voice TTS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Arial"/>
              </a:defRPr>
            </a:pPr>
            <a:r>
              <a:t>Additional Features Explored During Demo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89120"/>
            <a:ext cx="1828800" cy="1645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MischiefList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D5C5"/>
                </a:solidFill>
                <a:latin typeface="Arial"/>
              </a:defRPr>
            </a:pPr>
            <a:r>
              <a:t>Historical data table with</a:t>
            </a:r>
            <a:br/>
            <a:r>
              <a:t>search &amp;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79" y="4389120"/>
            <a:ext cx="1828800" cy="1645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19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19" y="4754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D5C5"/>
                </a:solidFill>
                <a:latin typeface="Arial"/>
              </a:defRPr>
            </a:pPr>
            <a:r>
              <a:t>Gringotts-style bank</a:t>
            </a:r>
            <a:br/>
            <a:r>
              <a:t>statement overview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389120"/>
            <a:ext cx="1828800" cy="1645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Pensieve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754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D5C5"/>
                </a:solidFill>
                <a:latin typeface="Arial"/>
              </a:defRPr>
            </a:pPr>
            <a:r>
              <a:t>Deep spending analysis</a:t>
            </a:r>
            <a:br/>
            <a:r>
              <a:t>with time filters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199" y="4389120"/>
            <a:ext cx="1828800" cy="1645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39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Owl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39" y="4754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D5C5"/>
                </a:solidFill>
                <a:latin typeface="Arial"/>
              </a:defRPr>
            </a:pPr>
            <a:r>
              <a:t>Notification center with</a:t>
            </a:r>
            <a:br/>
            <a:r>
              <a:t>read/unread states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389120"/>
            <a:ext cx="1828800" cy="1645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754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D5C5"/>
                </a:solidFill>
                <a:latin typeface="Arial"/>
              </a:defRPr>
            </a:pPr>
            <a:r>
              <a:t>Wizard's dossier with</a:t>
            </a:r>
            <a:br/>
            <a:r>
              <a:t>stats &amp; skills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389120"/>
            <a:ext cx="1828800" cy="164592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rial"/>
              </a:defRPr>
            </a:pPr>
            <a:r>
              <a:t>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754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D5C5"/>
                </a:solidFill>
                <a:latin typeface="Arial"/>
              </a:defRPr>
            </a:pPr>
            <a:r>
              <a:t>Admin controls &amp;</a:t>
            </a:r>
            <a:br/>
            <a:r>
              <a:t>system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  <a:latin typeface="Georgia"/>
              </a:defRPr>
            </a:pPr>
            <a:r>
              <a:t>Model Performance &amp;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03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10312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F1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D6A4F"/>
                </a:solidFill>
                <a:latin typeface="Georgia"/>
              </a:defRPr>
            </a:pPr>
            <a:r>
              <a:t>0.873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Test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280160"/>
            <a:ext cx="2103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128016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1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1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  <a:latin typeface="Georgia"/>
              </a:defRPr>
            </a:pPr>
            <a:r>
              <a:t>0.977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19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Test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280160"/>
            <a:ext cx="2103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280160"/>
            <a:ext cx="2103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CV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97706"/>
                </a:solidFill>
                <a:latin typeface="Georgia"/>
              </a:defRPr>
            </a:pPr>
            <a:r>
              <a:t>0.8808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Mean +/- 0.0017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1280160"/>
            <a:ext cx="2103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1280160"/>
            <a:ext cx="21031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7C3AED"/>
                </a:solidFill>
                <a:latin typeface="Georgia"/>
              </a:defRPr>
            </a:pPr>
            <a: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Engineered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280160"/>
            <a:ext cx="2103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280160"/>
            <a:ext cx="21031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1810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C2626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606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Ensemble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11277295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ENSEMBLE MODEL BREAKDOWN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Role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181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80560"/>
            <a:ext cx="11277295" cy="338328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Random Forest, Gradient Boosting, Extra Trees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Supervised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Core ensemble 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XGBoost, LightGBM, CatBoost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Gradient Boosting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High-performance learners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57216"/>
            <a:ext cx="11277295" cy="338328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2029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Isolation Forest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202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Unsupervised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202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Anomaly detection (unsupervised)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5202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541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Local Outlier Factor (LOF)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541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Unsupervised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541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Density-based 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541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33872"/>
            <a:ext cx="11277295" cy="338328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879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One-Class SVM (OCSVM)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5879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Unsupervised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5879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Boundary-based detection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879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Rule-Based Scoring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6217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Heuristic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1810"/>
                </a:solidFill>
                <a:latin typeface="Arial"/>
              </a:defRPr>
            </a:pPr>
            <a:r>
              <a:t>Domain-specific rules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6217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4F"/>
                </a:solidFill>
                <a:latin typeface="Arial"/>
              </a:defRPr>
            </a:pPr>
            <a:r>
              <a:t>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92240"/>
            <a:ext cx="1155161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25935" y="320040"/>
            <a:ext cx="45720" cy="6309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F37"/>
                </a:solidFill>
                <a:latin typeface="Arial"/>
              </a:defRPr>
            </a:pPr>
            <a:r>
              <a:t>"I solemnly swear that I am up to no good."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560320"/>
            <a:ext cx="3047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D5C5"/>
                </a:solidFill>
                <a:latin typeface="Arial"/>
              </a:defRPr>
            </a:pPr>
            <a:r>
              <a:t>The Marauder's Ledger - AI-Powered Financial 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F37"/>
                </a:solidFill>
                <a:latin typeface="Arial"/>
              </a:defRPr>
            </a:pPr>
            <a:r>
              <a:t>10 ML Models  |  48 Features  |  18 Pages  |  F1: 0.873  |  Full-Stack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Celery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VectorAI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Gemini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ElevenLabs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5303520"/>
            <a:ext cx="1463040" cy="320040"/>
          </a:xfrm>
          <a:prstGeom prst="rect">
            <a:avLst/>
          </a:prstGeom>
          <a:solidFill>
            <a:srgbClr val="33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D5C5"/>
                </a:solidFill>
                <a:latin typeface="Arial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