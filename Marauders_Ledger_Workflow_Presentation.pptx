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92240"/>
            <a:ext cx="1155161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45720" cy="6309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25935" y="320040"/>
            <a:ext cx="45720" cy="6309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F37"/>
                </a:solidFill>
                <a:latin typeface="Georgia"/>
              </a:defRPr>
            </a:pPr>
            <a:r>
              <a:t>The Marauder's Ledger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560320"/>
            <a:ext cx="3962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D5C5"/>
                </a:solidFill>
                <a:latin typeface="Arial"/>
              </a:defRPr>
            </a:pPr>
            <a:r>
              <a:t>AI-Powered Financial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Arial"/>
              </a:defRPr>
            </a:pPr>
            <a:r>
              <a:t>"I solemnly swear that I am up to no good."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754880"/>
            <a:ext cx="14630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React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4754880"/>
            <a:ext cx="1463040" cy="3200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754880"/>
            <a:ext cx="1463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ML Ensemble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754880"/>
            <a:ext cx="146304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0F0A"/>
                </a:solidFill>
                <a:latin typeface="Arial"/>
              </a:defRPr>
            </a:pPr>
            <a:r>
              <a:t>Gemini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8877"/>
                </a:solidFill>
                <a:latin typeface="Arial"/>
              </a:defRPr>
            </a:pPr>
            <a:r>
              <a:t>Complete Workflow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Website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02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1810"/>
                </a:solidFill>
                <a:latin typeface="Arial"/>
              </a:defRPr>
            </a:pPr>
            <a:r>
              <a:t>WHAT IS THE MARAUDER'S LEDGER?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 full-stack AI-powered web application for detecting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financial anomalies in bank transaction CSV files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Users upload CSV transaction data, and the system: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1. Parses and validates the data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2. Runs a 10-model ML ensemble for anomaly detection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3. Visualizes results on an interactive SVG map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4. Generates AI narratives via Google Gemini 2.0 Flash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5. Reads narratives aloud via ElevenLabs TTS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All themed around the Harry Potter Marauder's Map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with terminology like: Dementor (high severity),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Boggart (medium), Peeves (low), Mischief (fraud)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73152" cy="502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1810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Frontend: React 19 + TypeScript + Vite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State: TanStack Query v5 + React Context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Styling: Tailwind CSS v4 + Framer Motion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Backend: FastAPI + Python 3.11 + Uvicorn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Database: Actian VectorAI + SQLite fallback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ML: scikit-learn, XGBoost, LightGBM, CatBoost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AI: Google Gemini 2.0 Flash (narratives + chat)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TTS: ElevenLabs API (voice narration)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Async: Celery + Redis (background processing)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Infra: Docker Compose (5 services)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Dual frontend: Harry Potter theme (frontend/)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and OmniLedger tech theme (stitch-frontend/)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Workflow Phase 1: Authentication &amp; Onboarding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Visit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User navigates to the</a:t>
            </a:r>
            <a:br/>
            <a:r>
              <a:t>application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Arial"/>
              </a:defRPr>
            </a:pPr>
            <a:r>
              <a:t>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463040"/>
            <a:ext cx="731520" cy="7315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6A4F"/>
                </a:solidFill>
                <a:latin typeface="Arial"/>
              </a:defRPr>
            </a:pPr>
            <a:r>
              <a:t>Login/Signup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Register with name,</a:t>
            </a:r>
            <a:br/>
            <a:r>
              <a:t>email, 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Arial"/>
              </a:defRPr>
            </a:pPr>
            <a:r>
              <a:t>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463040"/>
            <a:ext cx="731520" cy="7315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Arial"/>
              </a:defRPr>
            </a:pPr>
            <a:r>
              <a:t>JWT Issued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Backend returns JWT</a:t>
            </a:r>
            <a:br/>
            <a:r>
              <a:t>token (24h expiry)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Arial"/>
              </a:defRPr>
            </a:pPr>
            <a:r>
              <a:t>&gt;&gt;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1463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Arial"/>
              </a:defRPr>
            </a:pPr>
            <a:r>
              <a:t>Onboarding Tour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34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First-time users see</a:t>
            </a:r>
            <a:br/>
            <a:r>
              <a:t>a 5-step guided tour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11277295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11277295" cy="4114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AUTHENTICATION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Registration: POST /api/auth/register (bcrypt hashing)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Login: POST /api/auth/login (returns JWT + user info)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Token stored in localStorage key 'marauders_token'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All API calls include Authorization: Bearer &lt;token&gt;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ProtectedRoute redirects to /login if unauthenticated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401 response auto-clears session and redirects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Rate limiting: 30 requests/60s per IP on auth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Backend verifies via get_current_user dependency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User ownership checked on all endpoints (403 if mismatch)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Session persists across page refreshes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Logout clears token and redirects to login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No refresh tokens; simple 24-hour JWT expiry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Workflow Phase 2: CSV Upload &amp;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15544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Upload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Drag-drop or browse</a:t>
            </a:r>
            <a:br/>
            <a:r>
              <a:t>CSV file on Landing</a:t>
            </a:r>
            <a:br/>
            <a:r>
              <a:t>page (UploadZone)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1554480"/>
            <a:ext cx="548640" cy="54864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  <a:latin typeface="Arial"/>
              </a:defRPr>
            </a:pPr>
            <a:r>
              <a:t>Parse &amp;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60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Frontend sends to</a:t>
            </a:r>
            <a:br/>
            <a:r>
              <a:t>POST /api/upload</a:t>
            </a:r>
            <a:br/>
            <a:r>
              <a:t>Backend parses 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0" y="155448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Arial"/>
              </a:defRPr>
            </a:pPr>
            <a:r>
              <a:t>Celery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60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process_upload task</a:t>
            </a:r>
            <a:br/>
            <a:r>
              <a:t>dispatched to Celery</a:t>
            </a:r>
            <a:br/>
            <a:r>
              <a:t>worker via Redis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35661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37360" y="4114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Arial"/>
              </a:defRPr>
            </a:pPr>
            <a:r>
              <a:t>Feature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48 features computed</a:t>
            </a:r>
            <a:br/>
            <a:r>
              <a:t>per transaction</a:t>
            </a:r>
            <a:br/>
            <a:r>
              <a:t>(amount, hour, etc.)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9319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931920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77840" y="411480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Arial"/>
              </a:defRPr>
            </a:pPr>
            <a:r>
              <a:t>ML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20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10-model ensemble</a:t>
            </a:r>
            <a:br/>
            <a:r>
              <a:t>runs anomaly detection</a:t>
            </a:r>
            <a:br/>
            <a:r>
              <a:t>on all transactions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9319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931920"/>
            <a:ext cx="35661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18320" y="411480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  <a:latin typeface="Arial"/>
              </a:defRPr>
            </a:pPr>
            <a:r>
              <a:t>Results Stored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120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Anomalies inserted</a:t>
            </a:r>
            <a:br/>
            <a:r>
              <a:t>into VectorAI/SQLite</a:t>
            </a:r>
            <a:br/>
            <a:r>
              <a:t>Batch marked 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1810"/>
                </a:solidFill>
                <a:latin typeface="Arial"/>
              </a:defRPr>
            </a:pPr>
            <a:r>
              <a:t>Frontend polls GET /api/batches/:batch_id/progress every 1 second (up to 60s timeout) → navigates to /dashboard on completion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Workflow Phase 3: ML Anomaly Detection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743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SUPERVISED MODELS (Weighted)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XGBoost (weight: 0.25)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LightGBM (weight: 0.25)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Random Forest (weight: 0.15)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Gradient Boosting (weight: 0.15)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CatBoost (weight: 0.10)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Extra Trees (weight: 0.10)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2743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UNSUPERVISED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Isolation Forest (outlier score)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Local Outlier Factor (density score)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One-Class SVM (boundary score)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Scores used as additional features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Unsupervised scores fed into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the ensemble as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8016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280160"/>
            <a:ext cx="73152" cy="2743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Arial"/>
              </a:defRPr>
            </a:pPr>
            <a:r>
              <a:t>RULE-BASED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3736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Transaction velocity checks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Amount threshold violations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Category spending spikes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Unusual hour patterns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New merchant detection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Rolling average deviation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5669280" cy="45720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48 ENGINEERED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35 Base Features: amount, category, merchant, hour, day,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  cyclical time encoding (sin/cos), log transforms,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  Z-scores, rolling statistics (mean, std, count),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  interaction features (category×amount, hour×day)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3 Unsupervised Scores: IF score, LOF score, OCSVM score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1 Rule Score: heuristic-based anomaly indicators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Feature scaling: StandardScaler normalization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9768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297680"/>
            <a:ext cx="53035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0F0A"/>
                </a:solidFill>
                <a:latin typeface="Arial"/>
              </a:defRPr>
            </a:pPr>
            <a:r>
              <a:t>HYBRID SCORING FORMULA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1810"/>
                </a:solidFill>
                <a:latin typeface="Courier New"/>
              </a:defRPr>
            </a:pPr>
            <a:r>
              <a:t>final_score = 0.75 * ensemble + 0.25 *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3949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Ensemble: Weighted average of 9 ML models</a:t>
            </a:r>
          </a:p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Rules: Domain-specific anomaly heuristics</a:t>
            </a:r>
          </a:p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Threshold: Score &gt; 0.5 flagged as anomaly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  <a:latin typeface="Georgia"/>
              </a:defRPr>
            </a:pPr>
            <a:r>
              <a:t>Workflow Phase 4: Dashboard &amp; Interactive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D5C5"/>
                </a:solidFill>
                <a:latin typeface="Arial"/>
              </a:defRPr>
            </a:pPr>
            <a:r>
              <a:t>SVG-based Marauder's Map with animated footprints and real-time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28600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Hogwarts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Food &amp; Dining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737360"/>
            <a:ext cx="228600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Hogsmeade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Shopping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737360"/>
            <a:ext cx="228600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Gringotts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Bills &amp; Utilities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737360"/>
            <a:ext cx="22860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Diagon Alley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Entertainment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737360"/>
            <a:ext cx="22860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Platform 9 3/4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Travel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Animated Footprints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Transactions appear as walking footprints</a:t>
            </a:r>
            <a:br/>
            <a:r>
              <a:t>traversing the map between locations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38328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Anomaly Pulsing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840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Detected anomalies glow red and pulse</a:t>
            </a:r>
            <a:br/>
            <a:r>
              <a:t>to draw immediate attention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38328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Severity Indicators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840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Peeves (green/low), Boggart (amber/medium),</a:t>
            </a:r>
            <a:br/>
            <a:r>
              <a:t>Dementor (red/high severity)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Category Filtering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394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Filter tabs: Moony (Food), Wormtail (Shopping),</a:t>
            </a:r>
            <a:br/>
            <a:r>
              <a:t>Padfoot (Bills), Prongs (All)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93776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Spending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394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Bottom panel shows Recharts line chart</a:t>
            </a:r>
            <a:br/>
            <a:r>
              <a:t>of spending trends over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93776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Stats 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394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Top bar: total anomalies, high/medium/low</a:t>
            </a:r>
            <a:br/>
            <a:r>
              <a:t>counts, total financial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Workflow Phase 5: Anomaly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37160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371600"/>
            <a:ext cx="21945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Arial"/>
              </a:defRPr>
            </a:pPr>
            <a:r>
              <a:t>Click Anomaly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1810"/>
                </a:solidFill>
                <a:latin typeface="Arial"/>
              </a:defRPr>
            </a:pPr>
            <a:r>
              <a:t>Click map marker or</a:t>
            </a:r>
            <a:br/>
            <a:r>
              <a:t>anomaly card to</a:t>
            </a:r>
            <a:br/>
            <a:r>
              <a:t>navigate to detail</a:t>
            </a:r>
            <a:br/>
            <a:r>
              <a:t>/anomaly/:id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37160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1371600"/>
            <a:ext cx="219456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91840" y="1463040"/>
            <a:ext cx="640080" cy="640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  <a:latin typeface="Arial"/>
              </a:defRPr>
            </a:pPr>
            <a:r>
              <a:t>Score Gauges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1810"/>
                </a:solidFill>
                <a:latin typeface="Arial"/>
              </a:defRPr>
            </a:pPr>
            <a:r>
              <a:t>Three circular gauges:</a:t>
            </a:r>
            <a:br/>
            <a:r>
              <a:t>- ML Model Score</a:t>
            </a:r>
            <a:br/>
            <a:r>
              <a:t>- Rule Score</a:t>
            </a:r>
            <a:br/>
            <a:r>
              <a:t>- Final Mischief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37160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1371600"/>
            <a:ext cx="21945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14630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Arial"/>
              </a:defRPr>
            </a:pPr>
            <a:r>
              <a:t>AI Narrative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1810"/>
                </a:solidFill>
                <a:latin typeface="Arial"/>
              </a:defRPr>
            </a:pPr>
            <a:r>
              <a:t>Gemini generates HP-</a:t>
            </a:r>
            <a:br/>
            <a:r>
              <a:t>themed narrative</a:t>
            </a:r>
            <a:br/>
            <a:r>
              <a:t>with typewriter</a:t>
            </a:r>
            <a:br/>
            <a:r>
              <a:t>effect animation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37160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371600"/>
            <a:ext cx="21945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146304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Arial"/>
              </a:defRPr>
            </a:pPr>
            <a:r>
              <a:t>Audio Narration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1810"/>
                </a:solidFill>
                <a:latin typeface="Arial"/>
              </a:defRPr>
            </a:pPr>
            <a:r>
              <a:t>ElevenLabs TTS reads</a:t>
            </a:r>
            <a:br/>
            <a:r>
              <a:t>narrative aloud via</a:t>
            </a:r>
            <a:br/>
            <a:r>
              <a:t>waveform audio player</a:t>
            </a:r>
            <a:br/>
            <a:r>
              <a:t>(play/pause)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37160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1371600"/>
            <a:ext cx="21945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24160" y="146304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Arial"/>
              </a:defRPr>
            </a:pPr>
            <a:r>
              <a:t>Review &amp; 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1810"/>
                </a:solidFill>
                <a:latin typeface="Arial"/>
              </a:defRPr>
            </a:pPr>
            <a:r>
              <a:t>Mark as 'Valid' or</a:t>
            </a:r>
            <a:br/>
            <a:r>
              <a:t>'Mischief'. Export</a:t>
            </a:r>
            <a:br/>
            <a:r>
              <a:t>HTML report. Share</a:t>
            </a:r>
            <a:br/>
            <a:r>
              <a:t>via clipboard link.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11277295" cy="4114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ANOMALY DETAIL PAGE FEATURES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937760"/>
            <a:ext cx="28346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937760"/>
            <a:ext cx="28346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  <a:latin typeface="Arial"/>
              </a:defRPr>
            </a:pPr>
            <a:r>
              <a:t>Triggered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394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1810"/>
                </a:solidFill>
                <a:latin typeface="Arial"/>
              </a:defRPr>
            </a:pPr>
            <a:r>
              <a:t>Tags showing which rules the</a:t>
            </a:r>
            <a:br/>
            <a:r>
              <a:t>anomaly violated (e.g., 'Unusual</a:t>
            </a:r>
            <a:br/>
            <a:r>
              <a:t>Hour', 'Amount Spike')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39" y="4937760"/>
            <a:ext cx="28346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39" y="4937760"/>
            <a:ext cx="28346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8999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  <a:latin typeface="Arial"/>
              </a:defRPr>
            </a:pPr>
            <a:r>
              <a:t>Related Transactions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8999" y="5394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1810"/>
                </a:solidFill>
                <a:latin typeface="Arial"/>
              </a:defRPr>
            </a:pPr>
            <a:r>
              <a:t>Nearby transactions for context</a:t>
            </a:r>
            <a:br/>
            <a:r>
              <a:t>and comparison within the</a:t>
            </a:r>
            <a:br/>
            <a:r>
              <a:t>same time window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4937760"/>
            <a:ext cx="28346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59" y="4937760"/>
            <a:ext cx="28346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19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  <a:latin typeface="Arial"/>
              </a:defRPr>
            </a:pPr>
            <a:r>
              <a:t>Status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19" y="5394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1810"/>
                </a:solidFill>
                <a:latin typeface="Arial"/>
              </a:defRPr>
            </a:pPr>
            <a:r>
              <a:t>Toggle between 'Valid' and</a:t>
            </a:r>
            <a:br/>
            <a:r>
              <a:t>'Mischief' status to provide</a:t>
            </a:r>
            <a:br/>
            <a:r>
              <a:t>feedback for model improvement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937760"/>
            <a:ext cx="28346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26880" y="4937760"/>
            <a:ext cx="28346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1810"/>
                </a:solidFill>
                <a:latin typeface="Arial"/>
              </a:defRPr>
            </a:pPr>
            <a:r>
              <a:t>Report Export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394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1810"/>
                </a:solidFill>
                <a:latin typeface="Arial"/>
              </a:defRPr>
            </a:pPr>
            <a:r>
              <a:t>Export anomaly details as a</a:t>
            </a:r>
            <a:br/>
            <a:r>
              <a:t>formatted HTML document for</a:t>
            </a:r>
            <a:br/>
            <a:r>
              <a:t>record-keeping or sharing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Workflow Phase 6: AI Narratives &amp; Voice 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692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6692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NARRATIVE GENERATION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1. User navigates to /anomaly/:id detail page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2. Frontend calls GET /api/narratives/:id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3. Backend checks cache for existing narrative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4. If not cached: calls Google Gemini 2.0 Flash API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5. Gemini generates HP-themed narrative explaining the anomaly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6. Narrative stored in DB, returned to frontend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7. Frontend displays with typewriter animation (NarrativeCard)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8. Graceful fallback: static template if Gemini API unavailable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TTS AUDIO GENERATION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1. User clicks play on AudioPlayer widget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2. Frontend calls GET /api/narratives/:id/audio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3. Backend checks cache for existing MP3 audio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4. If not cached: calls ElevenLabs TTS API (voice: Roger)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5. Audio streamed back as MP3 (Content-Type: audio/mpeg)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6. AudioPlayer shows waveform controls (play/pause)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7. Sequential request locking per anomaly ID</a:t>
            </a:r>
          </a:p>
          <a:p>
            <a:pPr>
              <a:spcAft>
                <a:spcPts val="4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8. Graceful fallback: narrative displayed as text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277295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1277295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VOICE CHAT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Persistent FAB (floating action button) in bottom-right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Supports voice input via Web Speech API + text input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Context sent: anomaly_id, batch_id for relevant responses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POST /api/chat/message → Gemini generates response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Response: X-Chat-Response header + audio/mpeg stream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ElevenLabs reads Marauder's Map persona responses aloud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Ask questions like: 'What anomalies were detected?'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'Explain this transaction' or 'Summarize my spending'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Context-aware: responds based on current page context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Fallback to text-only response if speech not supported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Chat history maintained during session</a:t>
            </a:r>
          </a:p>
          <a:p>
            <a:pPr>
              <a:spcAft>
                <a:spcPts val="6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HP-themed persona: 'Mischief Managed!'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Workflow Phase 7: Supporting Pages &amp;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/ledger (MischiefList)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Searchable, filterable, paginated</a:t>
            </a:r>
            <a:br/>
            <a:r>
              <a:t>historical anomaly table. Shows all</a:t>
            </a:r>
            <a:br/>
            <a:r>
              <a:t>detected anomalies with severity</a:t>
            </a:r>
            <a:br/>
            <a:r>
              <a:t>badges, timestamps, and amounts.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749039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  <a:latin typeface="Arial"/>
              </a:defRPr>
            </a:pPr>
            <a:r>
              <a:t>/vault (Gringotts Vault)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Spending overview by category with</a:t>
            </a:r>
            <a:br/>
            <a:r>
              <a:t>progress rings. Total balance,</a:t>
            </a:r>
            <a:br/>
            <a:r>
              <a:t>category breakdown, recent</a:t>
            </a:r>
            <a:br/>
            <a:r>
              <a:t>anomalies in the Vault 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749039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/pensieve (Deep Analysis)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Spending trend line charts (Recharts)</a:t>
            </a:r>
            <a:br/>
            <a:r>
              <a:t>with time range selectors. Risk</a:t>
            </a:r>
            <a:br/>
            <a:r>
              <a:t>breakdown pie chart, spending</a:t>
            </a:r>
            <a:br/>
            <a:r>
              <a:t>categories with progress bars.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2336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374903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/owl-post (Notifications)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663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Notification center with read/unread</a:t>
            </a:r>
            <a:br/>
            <a:r>
              <a:t>anomaly alerts. Categorized by</a:t>
            </a:r>
            <a:br/>
            <a:r>
              <a:t>severity (Dementor, Boggart,</a:t>
            </a:r>
            <a:br/>
            <a:r>
              <a:t>Peeves) with timestamps.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02336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4023360"/>
            <a:ext cx="3749039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Arial"/>
              </a:defRPr>
            </a:pPr>
            <a:r>
              <a:t>/profile (Wizard's Dossier)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663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User stats: total transactions,</a:t>
            </a:r>
            <a:br/>
            <a:r>
              <a:t>anomalies found, investigations.</a:t>
            </a:r>
            <a:br/>
            <a:r>
              <a:t>Spending by category rings and</a:t>
            </a:r>
            <a:br/>
            <a:r>
              <a:t>recent cases list.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02336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023360"/>
            <a:ext cx="3749039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Arial"/>
              </a:defRPr>
            </a:pPr>
            <a:r>
              <a:t>/admin (Settings)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663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System overview, theme toggle</a:t>
            </a:r>
            <a:br/>
            <a:r>
              <a:t>(dark/light), parchment aging</a:t>
            </a:r>
            <a:br/>
            <a:r>
              <a:t>effect, mischief taxonomy editor,</a:t>
            </a:r>
            <a:br/>
            <a:r>
              <a:t>API status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End-to-End Data Flow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01168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USER BROWSER (React 19)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097280"/>
            <a:ext cx="9509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1097280"/>
            <a:ext cx="54864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14300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1810"/>
                </a:solidFill>
                <a:latin typeface="Arial"/>
              </a:defRPr>
            </a:pPr>
            <a:r>
              <a:t>BrowserRouter → AuthProvider → QueryClientProvider → AppProvider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3441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TanStack Query: useQuery + useMutation for all API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54533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React Context: Auth (JWT), App (batchId), Toast (notifications)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4650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0F0A"/>
                </a:solidFill>
                <a:latin typeface="Arial"/>
              </a:defRPr>
            </a:pPr>
            <a:r>
              <a:t>Components: SidebarNav, UploadZone, MaraudersMap, VoiceChatWidget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201168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1488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API GATEWAY (FastAPI + Uvicorn)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057400"/>
            <a:ext cx="9509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057400"/>
            <a:ext cx="54864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10312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1810"/>
                </a:solidFill>
                <a:latin typeface="Arial"/>
              </a:defRPr>
            </a:pPr>
            <a:r>
              <a:t>17+ REST endpoints: auth, upload, anomalies, narratives,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30428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JWT verification via get_current_user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5054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CORS middleware, rate limiting (30 req/60s per IP)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70662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0F0A"/>
                </a:solidFill>
                <a:latin typeface="Arial"/>
              </a:defRPr>
            </a:pPr>
            <a:r>
              <a:t>Async handlers with HTTPX for external API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2011680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089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BACKGROUND PROCESSING (Celery + Redis)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017520"/>
            <a:ext cx="9509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017520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306324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1810"/>
                </a:solidFill>
                <a:latin typeface="Arial"/>
              </a:defRPr>
            </a:pPr>
            <a:r>
              <a:t>process_upload: parse CSV → feature engineering → ML inference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2644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detect_anomalies: ensemble prediction + rule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46557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Frontend polls GET /api/batches/:id/progress every 1s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6667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0F0A"/>
                </a:solidFill>
                <a:latin typeface="Arial"/>
              </a:defRPr>
            </a:pPr>
            <a:r>
              <a:t>Synchronous fallback if Celery/Redis unavailable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977640"/>
            <a:ext cx="201168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0690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MACHINE LEARNING (scikit-learn + XGBoost + LightGBM + CatBoost)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977640"/>
            <a:ext cx="9509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3977640"/>
            <a:ext cx="54864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402336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1810"/>
                </a:solidFill>
                <a:latin typeface="Arial"/>
              </a:defRPr>
            </a:pPr>
            <a:r>
              <a:t>10 models: 6 supervised + 3 unsupervised + 1 rule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224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48 features per transaction → scaled → ensemble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42569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Hybrid score: 0.75 * ML ensemble + 0.25 * rule_score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6268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0F0A"/>
                </a:solidFill>
                <a:latin typeface="Arial"/>
              </a:defRPr>
            </a:pPr>
            <a:r>
              <a:t>Score &gt; 0.5 → flagged as anomaly with severity level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937760"/>
            <a:ext cx="201168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029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 LAYER (Actian VectorAI + SQLite)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4937760"/>
            <a:ext cx="9509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77440" y="49377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498348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1810"/>
                </a:solidFill>
                <a:latin typeface="Arial"/>
              </a:defRPr>
            </a:pPr>
            <a:r>
              <a:t>VectorAI: primary vector database (hybrid search)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1846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SQLite: automatic fallback + user auth 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38581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Named vectors: numerical + semantic embedding modes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58698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0F0A"/>
                </a:solidFill>
                <a:latin typeface="Arial"/>
              </a:defRPr>
            </a:pPr>
            <a:r>
              <a:t>Auto-detection of VectorAI server capabilities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897880"/>
            <a:ext cx="2011680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59893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EXTERNAL AI SERVICES (Gemini + ElevenLabs)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5897880"/>
            <a:ext cx="9509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40" y="5897880"/>
            <a:ext cx="54864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594360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1810"/>
                </a:solidFill>
                <a:latin typeface="Arial"/>
              </a:defRPr>
            </a:pPr>
            <a:r>
              <a:t>Gemini 2.0 Flash: narrative gen + voice chat responses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61447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ElevenLabs: TTS narration (voice: Roger, streaming MP3)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634593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Thread-safe locking per anomaly (prevents duplicate gen)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654710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0F0A"/>
                </a:solidFill>
                <a:latin typeface="Arial"/>
              </a:defRPr>
            </a:pPr>
            <a:r>
              <a:t>Graceful degradation if API keys are missing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Performance Metrics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82880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F1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6A4F"/>
                </a:solidFill>
                <a:latin typeface="Georgia"/>
              </a:defRPr>
            </a:pPr>
            <a:r>
              <a:t>0.873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Test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79" y="12801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128016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19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Georgia"/>
              </a:defRPr>
            </a:pPr>
            <a:r>
              <a:t>0.977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19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Test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280160"/>
            <a:ext cx="18288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97706"/>
                </a:solidFill>
                <a:latin typeface="Georgia"/>
              </a:defRPr>
            </a:pPr>
            <a:r>
              <a:t>0.897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Test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199" y="12801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199" y="1280160"/>
            <a:ext cx="18288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39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CV 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39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C3AED"/>
                </a:solidFill>
                <a:latin typeface="Georgia"/>
              </a:defRPr>
            </a:pPr>
            <a:r>
              <a:t>0.8808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39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Mean +/- 0.0017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2801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280160"/>
            <a:ext cx="18288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C2626"/>
                </a:solidFill>
                <a:latin typeface="Georgia"/>
              </a:defRPr>
            </a:pPr>
            <a:r>
              <a:t>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Engineered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12801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1280160"/>
            <a:ext cx="18288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59669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Ensemble Size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11277295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11277295" cy="4114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ENSEMBLE MODEL BREAKDOWN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Weight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160520"/>
            <a:ext cx="11277295" cy="2377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178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Random Forest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178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Supervised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1788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Core ensemble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1788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0.15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178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4165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Gradient Boosting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Supervised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44165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Core ensemble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416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0.15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636008"/>
            <a:ext cx="11277295" cy="2377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6542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XGBoost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4654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Gradient Boosting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0" y="46542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High-perf learner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46542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0.25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4080" y="4654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892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LightGBM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48920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Gradient Boosting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0" y="4892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High-perf learner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4892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0.25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8920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111496"/>
            <a:ext cx="11277295" cy="2377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1297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CatBoost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3280" y="51297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Gradient Boosting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2080" y="512978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Supplementary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51297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0.10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1297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53675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Extra Trees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53675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0" y="53675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Supplementary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5367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0.10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4080" y="53675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586983"/>
            <a:ext cx="11277295" cy="2377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5605271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Isolation Forest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80" y="560527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Unsupervised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12080" y="5605271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Outlier detection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560527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560527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8430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Local Outlier Factor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83280" y="5843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Unsupervised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58430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Density detection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58430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84080" y="5843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6062472"/>
            <a:ext cx="11277295" cy="2377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0807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One-Class SVM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6080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Unsupervised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12080" y="6080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Boundary detection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60807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84080" y="6080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" y="63185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Rule-Based Scoring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0" y="63185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Heuristic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12080" y="63185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Domain rules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0" y="63185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1810"/>
                </a:solidFill>
                <a:latin typeface="Arial"/>
              </a:defRPr>
            </a:pPr>
            <a:r>
              <a:t>0.25 weight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84080" y="63185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Workflow Phase 8: Power User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69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6692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VOICE CHAT 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FAB widget in bottom-right corner of every page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Voice input via Web Speech API (SpeechRecognition)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Text input fallback for environments without mic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Sends POST /api/chat/message with page context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Gemini responds in Marauder's Map persona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ElevenLabs streams audio response back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Context includes anomaly_id, batch_id for relevance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Chat history preserved during session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COMMAND PALETTE (Cmd+K)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Press Cmd+K (or Ctrl+K) to open command palette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Quick navigation to any page in the application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Search transactions, anomalies, and investigations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Toggle dark mode directly from command palette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Access keyboard shortcuts reference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Filter anomalies by severity or category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Context-aware commands based on current page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Fuzzy search for fast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30352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DARK MODE &amp; THEMING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Full dark/light theme toggle (DarkModeToggle)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Persistent theme preference in localStorage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Seamless transitions via Tailwind dark mode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Parchment aging effect in Harry Potter theme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Consistent design across all 18+ pages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Tailwind CSS v4 with custom theme 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PDF EXPORT &amp; SHARING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Export anomaly reports as formatted HTML/PDF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Share anomaly details via clipboard link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PDF includes: score gauges, narrative, rules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Helps with record-keeping and reporting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Export function in AnomalyDetail page</a:t>
            </a:r>
          </a:p>
          <a:p>
            <a:pPr>
              <a:spcAft>
                <a:spcPts val="4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pdfExport.ts service handles HTML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Deployment Architecture (Docker Compose)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React 19 + Nginx</a:t>
            </a:r>
            <a:br/>
            <a:r>
              <a:t>Port :3000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371600"/>
            <a:ext cx="210312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FastAPI + Uvicorn</a:t>
            </a:r>
            <a:br/>
            <a:r>
              <a:t>Port :8000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21031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Arial"/>
              </a:defRPr>
            </a:pPr>
            <a: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Message Broker</a:t>
            </a:r>
            <a:br/>
            <a:r>
              <a:t>Port :6379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371600"/>
            <a:ext cx="21031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Arial"/>
              </a:defRPr>
            </a:pPr>
            <a:r>
              <a:t>Celery 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Async Tasks</a:t>
            </a:r>
            <a:br/>
            <a:r>
              <a:t>(no port)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371600"/>
            <a:ext cx="21031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Arial"/>
              </a:defRPr>
            </a:pPr>
            <a:r>
              <a:t>VectorAI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1810"/>
                </a:solidFill>
                <a:latin typeface="Arial"/>
              </a:defRPr>
            </a:pPr>
            <a:r>
              <a:t>Vector Database</a:t>
            </a:r>
            <a:br/>
            <a:r>
              <a:t>Port :8888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11277295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59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User → Frontend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11277295" cy="3200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25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Frontend → Backend (REST API)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11277295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90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Backend → Redis (Celery Broker)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11277295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566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Celery → VectorAI (Results DB)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22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Backend → Gemini/ElevenLabs (External)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89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docker-compose up --build                    # Starts all 5 services</a:t>
            </a:r>
            <a:br/>
            <a:r>
              <a:t>Backend: http://localhost:8000  |  Frontend: http://localhost:3000  |  API Docs: http://localhost:8000/docs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Bonus: OmniLedger (Stitch Frontend)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ALTERNATIVE TECH/CYBERPUNK THEMED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The project includes a second frontend at stitch-frontend/ with an industrial/tech aesthetic. It connects to the same FastAPI backend and offers 18+ pages including Fleet Management, Access Control, Global Feed, Integrations, Performance, and System Health monitoring. Both frontends share the same core anomaly detection engine and can be run simultaneously.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3035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73152" cy="3657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HARRY POTTER THEME (frontend/)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9 main pages with HP-themed naming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Landing: CSV upload with magical UI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Dashboard: SVG Marauder's Map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Anomaly: score gauges + narrative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Ledger: MischiefList data table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Vault: Gringotts bank overview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Pensieve: deep spending analysis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Owl Post: magical notification center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Profile: Wizard's dossier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Admin: system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53035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926080"/>
            <a:ext cx="73152" cy="3657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OMNILEDGER TECH THEME (stitch-frontend/)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18+ pages with industrial naming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Dashboard: cluster map of spending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Anomalies: full list with bulk actions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Transactions: complete transaction log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Fleet Management: spending category groups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Access Control: permission management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Global Feed: real-time activity stream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Integrations: third-party connections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Performance: system performance metrics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Reporting: detailed financial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D4AF37"/>
                </a:solidFill>
                <a:latin typeface="Georgia"/>
              </a:defRPr>
            </a:pPr>
            <a:r>
              <a:t>Complete End-to-End Workflow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657600" cy="24688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1.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5C5"/>
                </a:solidFill>
                <a:latin typeface="Arial"/>
              </a:defRPr>
            </a:pPr>
            <a:r>
              <a:t>User signs up or logs in.</a:t>
            </a:r>
            <a:br/>
            <a:r>
              <a:t>JWT stored in localStorage.</a:t>
            </a:r>
            <a:br/>
            <a:r>
              <a:t>Protected routes guard pages.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657600" cy="24688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  <a:latin typeface="Arial"/>
              </a:defRPr>
            </a:pPr>
            <a:r>
              <a:t>2. CSV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5C5"/>
                </a:solidFill>
                <a:latin typeface="Arial"/>
              </a:defRPr>
            </a:pPr>
            <a:r>
              <a:t>Drag-drop CSV on Landing page.</a:t>
            </a:r>
            <a:br/>
            <a:r>
              <a:t>File sent to backend. Celery</a:t>
            </a:r>
            <a:br/>
            <a:r>
              <a:t>worker processes asynchronously.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657600" cy="24688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657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Arial"/>
              </a:defRPr>
            </a:pPr>
            <a:r>
              <a:t>3. ML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5C5"/>
                </a:solidFill>
                <a:latin typeface="Arial"/>
              </a:defRPr>
            </a:pPr>
            <a:r>
              <a:t>48 features engineered per txn.</a:t>
            </a:r>
            <a:br/>
            <a:r>
              <a:t>10-model ensemble predicts.</a:t>
            </a:r>
            <a:br/>
            <a:r>
              <a:t>Hybrid scoring (ML + rules).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3657600" cy="24688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3657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4. MAP 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5C5"/>
                </a:solidFill>
                <a:latin typeface="Arial"/>
              </a:defRPr>
            </a:pPr>
            <a:r>
              <a:t>Results shown on Marauder's Map.</a:t>
            </a:r>
            <a:br/>
            <a:r>
              <a:t>Footprints animate, anomalies</a:t>
            </a:r>
            <a:br/>
            <a:r>
              <a:t>pulse with severity colors.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023360"/>
            <a:ext cx="3657600" cy="24688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02336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5.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663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5C5"/>
                </a:solidFill>
                <a:latin typeface="Arial"/>
              </a:defRPr>
            </a:pPr>
            <a:r>
              <a:t>Click anomaly for detail view.</a:t>
            </a:r>
            <a:br/>
            <a:r>
              <a:t>Score gauges, AI narrative,</a:t>
            </a:r>
            <a:br/>
            <a:r>
              <a:t>TTS audio narration.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023360"/>
            <a:ext cx="3657600" cy="24688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6576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Arial"/>
              </a:defRPr>
            </a:pPr>
            <a:r>
              <a:t>6.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663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D5C5"/>
                </a:solidFill>
                <a:latin typeface="Arial"/>
              </a:defRPr>
            </a:pPr>
            <a:r>
              <a:t>Mark valid/mischief. Export</a:t>
            </a:r>
            <a:br/>
            <a:r>
              <a:t>report. Share links. Voice</a:t>
            </a:r>
            <a:br/>
            <a:r>
              <a:t>chat for natural queries.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  <a:latin typeface="Arial"/>
              </a:defRPr>
            </a:pPr>
            <a:r>
              <a:t>"Mischief Managed." — The Marauder's Ledger v1.0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92240"/>
            <a:ext cx="1155161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45720" cy="6309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25935" y="320040"/>
            <a:ext cx="45720" cy="6309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F37"/>
                </a:solidFill>
                <a:latin typeface="Arial"/>
              </a:defRPr>
            </a:pPr>
            <a:r>
              <a:t>"I solemnly swear that I am up to no good."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560320"/>
            <a:ext cx="3047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D5C5"/>
                </a:solidFill>
                <a:latin typeface="Arial"/>
              </a:defRPr>
            </a:pPr>
            <a:r>
              <a:t>The Marauder's Ledger - AI-Powered Financial Anomaly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F37"/>
                </a:solidFill>
                <a:latin typeface="Arial"/>
              </a:defRPr>
            </a:pPr>
            <a:r>
              <a:t>10 ML Models  |  48 Features  |  18+ Pages  |  F1: 0.873  |  Full-Stack React + FastAPI +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React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Celery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VectorAI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Gemini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ElevenLabs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D5C5"/>
                </a:solidFill>
                <a:latin typeface="Arial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